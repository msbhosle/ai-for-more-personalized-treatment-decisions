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73152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 FOR MORE PERSONALIZED TREATMENT DECISIONS</a:t>
            </a:r>
          </a:p>
          <a:p>
            <a:pPr>
              <a:spcBef>
                <a:spcPts val="1200"/>
              </a:spcBef>
              <a:defRPr sz="1600">
                <a:solidFill>
                  <a:srgbClr val="028090"/>
                </a:solidFill>
              </a:defRPr>
            </a:pPr>
            <a:r>
              <a:t>Causal Machine Learning · Heterogeneous Treatment Effect Estimation · Statistical Policy Optimization</a:t>
            </a:r>
          </a:p>
          <a:p>
            <a:pPr>
              <a:spcBef>
                <a:spcPts val="1800"/>
              </a:spcBef>
              <a:defRPr sz="1300">
                <a:solidFill>
                  <a:srgbClr val="CBD5E1"/>
                </a:solidFill>
              </a:defRPr>
            </a:pPr>
            <a:r>
              <a:t>Investigating individualized treatment effects (CATE/ITE), resolving observational confounding by indication, and optimizing clinical therapy rules across high-risk cardiometabolic patients.</a:t>
            </a:r>
          </a:p>
          <a:p>
            <a:pPr>
              <a:spcBef>
                <a:spcPts val="2800"/>
              </a:spcBef>
              <a:defRPr sz="1100" b="1">
                <a:solidFill>
                  <a:srgbClr val="94A3B8"/>
                </a:solidFill>
              </a:defRPr>
            </a:pPr>
            <a:r>
              <a:t>Key Results: S-Learner · T-Learner · X-Learner · Honest Causal Forest · Doubly Robust (AIPW) · Streamlit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</a:defRPr>
            </a:pPr>
            <a:r>
              <a:t>PROJECT MOTIVATION &amp; PROBLEM STATEMENT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The Motive: Why Standard Supervised AI Fails in Medicine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2828"/>
                </a:solidFill>
              </a:defRPr>
            </a:pPr>
            <a:r>
              <a:t>1. Correlation != Causation in EHR Data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Standard ML models predict associational risk: P(Y | X, T).</a:t>
            </a:r>
            <a:br/>
            <a:r>
              <a:t>• Confounding by Indication: In clinical observational records, physicians prescribe aggressive therapy to sicker patients.</a:t>
            </a:r>
            <a:br/>
            <a:r>
              <a:t>• Result: Naïve supervised models learn that treatment correlates with worse outcomes or mortality, giving dangerous recommendations.</a:t>
            </a:r>
          </a:p>
          <a:p>
            <a:pPr>
              <a:spcBef>
                <a:spcPts val="1600"/>
              </a:spcBef>
              <a:defRPr sz="1600" b="1">
                <a:solidFill>
                  <a:srgbClr val="C62828"/>
                </a:solidFill>
              </a:defRPr>
            </a:pPr>
            <a:r>
              <a:t>2. One-Size-Fits-All Clinical Guidelines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Clinical trials focus on Average Treatment Effect (ATE).</a:t>
            </a:r>
            <a:br/>
            <a:r>
              <a:t>• A positive average benefit often masks subgroups that suffer severe adverse toxicity or derive zero clinical efficacy.</a:t>
            </a:r>
            <a:br/>
            <a:r>
              <a:t>• Precision medicine requires estimating Individualized Treatment Effects (CATE): tau(x) = E[Y(1) - Y(0) | X=x].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Our Causal Solution &amp; Problem Solving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The Fundamental Problem of Causal Inference:</a:t>
            </a:r>
            <a:br/>
            <a:r>
              <a:t>  We only observe factual outcome: Y = T*Y(1) + (1-T)*Y(0).</a:t>
            </a:r>
            <a:br/>
            <a:r>
              <a:t>  The counterfactual outcome is strictly unobserved.</a:t>
            </a:r>
            <a:br/>
            <a:br/>
            <a:r>
              <a:t>• How We Solved It:</a:t>
            </a:r>
            <a:br/>
            <a:r>
              <a:t>  1. Semi-Synthetic Clinical Benchmark: Ground-truth counterfactuals for rigorous validation.</a:t>
            </a:r>
            <a:br/>
            <a:r>
              <a:t>  2. Confounding Adjustment: Propensity score modeling and Inverse Probability Weighting (IPW).</a:t>
            </a:r>
            <a:br/>
            <a:r>
              <a:t>  3. Causal Meta-Learners &amp; Orthogonal Estimators: S-Learner, T-Learner, X-Learner, Causal Forest, and AIPW Doubly Robust.</a:t>
            </a:r>
            <a:br/>
            <a:r>
              <a:t>  4. Uncertainty &amp; Gating: 95% Bootstrap confidence intervals to prevent high-risk medical errors.</a:t>
            </a:r>
          </a:p>
          <a:p>
            <a:pPr>
              <a:spcBef>
                <a:spcPts val="1400"/>
              </a:spcBef>
              <a:defRPr sz="1100" b="1">
                <a:solidFill>
                  <a:srgbClr val="2E7D32"/>
                </a:solidFill>
              </a:defRPr>
            </a:pPr>
            <a:r>
              <a:t>Key Baseline Contrast: Treat-None = 4.92% vs Optimal Policy = 8.36% (+3.44% Gain)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</a:defRPr>
            </a:pPr>
            <a:r>
              <a:t>METHODOLOGY &amp; SYSTEM DESIGN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What We Did: End-to-End Causal-ML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S-Learner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Single model with treatment indicator T as feature. Models mu(X, T) and predicts tau(X) = mu(X, 1) - mu(X, 0). Includes interaction features to alleviate shrinkage.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1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T-Learner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Two separate regression surfaces: mu_0(X) on control units and mu_1(X) on treated units. Avoids treatment effect shrinkage but vulnerable to group sample imbalance.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X-Learner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2-stage imputed counterfactuals (Künzel et al. 2019). Imputes unobserved counterfactuals and weights second-stage models by propensity e(X). Best for extreme group imbalance.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Honest Causal Forest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Adaptive ensemble of honest causal decision trees (Athey &amp; Wager 2019). Splits maximize treatment effect variance; leaf values computed on independent partition.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Doubly Robust (AIPW)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Augmented Inverse Probability Weighting with K-fold cross-fitting (Chernozhukov et al.). Neyman orthogonal score remains consistent if EITHER outcome OR propensity model is correct.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</a:defRPr>
            </a:pPr>
            <a:r>
              <a:t>OBSERVATIONAL CORRECTION &amp; DIAGNOSTICS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Confounding Adjustment: Achieving 100% Covariate Balance</a:t>
            </a:r>
          </a:p>
        </p:txBody>
      </p:sp>
      <p:pic>
        <p:nvPicPr>
          <p:cNvPr id="4" name="Picture 3" descr="covariate_balance_lov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73736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090"/>
                </a:solidFill>
              </a:defRPr>
            </a:pPr>
            <a:r>
              <a:t>Eliminating Selection Bias via IPW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Clinical Indication Confounding:</a:t>
            </a:r>
            <a:br/>
            <a:r>
              <a:t>  In observational data, patients receiving intensive care had severe baseline imbalances: eGFR (-0.68 SMD), Age (+0.58 SMD), HbA1c (+0.54 SMD), and Prior CVD (+0.49 SMD).</a:t>
            </a:r>
            <a:br/>
            <a:br/>
            <a:r>
              <a:t>• Inverse Probability Weighting (IPW):</a:t>
            </a:r>
            <a:br/>
            <a:r>
              <a:t>  Constructed pseudo-population weights w_i = T_i/e(X_i) + (1-T_i)/(1-e(X_i)) with positivity clipping [0.01, 0.99].</a:t>
            </a:r>
            <a:br/>
            <a:br/>
            <a:r>
              <a:t>• Clinical Standard of Balance (Love Plot):</a:t>
            </a:r>
            <a:br/>
            <a:r>
              <a:t>  Standardized Mean Difference (SMD) target: &lt; 0.10.</a:t>
            </a:r>
            <a:br/>
            <a:br/>
            <a:r>
              <a:t>• Result:</a:t>
            </a:r>
            <a:br/>
            <a:r>
              <a:t>  All 12 covariates successfully dropped below 0.04 SMD.</a:t>
            </a:r>
            <a:br/>
            <a:r>
              <a:t>  100% of features passed balance tests, guaranteeing unbiased pseudo-randomized conditions for causal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</a:defRPr>
            </a:pPr>
            <a:r>
              <a:t>EMPIRICAL PERFORMANCE ON TEST COHORT (N=1,250)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Causal-ML Benchmark Leaderboard &amp; Accuracy Metrics</a:t>
            </a:r>
          </a:p>
        </p:txBody>
      </p:sp>
      <p:pic>
        <p:nvPicPr>
          <p:cNvPr id="4" name="Picture 3" descr="benchmark_metrics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Benchmark Accuracy Leaderboard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1. X-Learner: Champion for Individualized Effects</a:t>
            </a:r>
            <a:br/>
            <a:r>
              <a:t>   • PEHE Error: 0.3599 (Lowest RMSE against true CATE)</a:t>
            </a:r>
            <a:br/>
            <a:r>
              <a:t>   • Effect Correlation: r = 0.937</a:t>
            </a:r>
            <a:br/>
            <a:r>
              <a:t>   • Effectively handles treatment arm imbalance.</a:t>
            </a:r>
            <a:br/>
            <a:br/>
            <a:r>
              <a:t>2. Doubly Robust (AIPW): Champion for Population Effect</a:t>
            </a:r>
            <a:br/>
            <a:r>
              <a:t>   • ATE Bias: 0.0255 (Closest to ground truth ATE 3.362%)</a:t>
            </a:r>
            <a:br/>
            <a:r>
              <a:t>   • 95% CI Coverage: 94.32% (Optimal nominal coverage)</a:t>
            </a:r>
            <a:br/>
            <a:r>
              <a:t>   • Robust against outcome/propensity model errors.</a:t>
            </a:r>
            <a:br/>
            <a:br/>
            <a:r>
              <a:t>3. S-Learner: Strong Overall Baseline</a:t>
            </a:r>
            <a:br/>
            <a:r>
              <a:t>   • PEHE Error: 0.3645 | AUUC: 1526.76</a:t>
            </a:r>
            <a:br/>
            <a:br/>
            <a:r>
              <a:t>4. T-Learner &amp; Causal Forest:</a:t>
            </a:r>
            <a:br/>
            <a:r>
              <a:t>   • T-Learner PEHE: 0.4460 (Suffers from independent overfitting)</a:t>
            </a:r>
            <a:br/>
            <a:r>
              <a:t>   • Causal Forest PEHE: 0.5983 (Interpretable tree structure)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</a:defRPr>
            </a:pPr>
            <a:r>
              <a:t>POLICY VALUE &amp; PATIENT PRIORITIZATION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Personalized Treatment Policy &amp; Uplift Curves</a:t>
            </a:r>
          </a:p>
        </p:txBody>
      </p:sp>
      <p:pic>
        <p:nvPicPr>
          <p:cNvPr id="4" name="Picture 3" descr="uplift_qini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73736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Optimal Policy Allocation &amp; Zero Regret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Decision Policy Formulation:</a:t>
            </a:r>
            <a:br/>
            <a:r>
              <a:t>  pi(x) = 1 if tau_hat(x) &gt; 0 else 0.</a:t>
            </a:r>
            <a:br/>
            <a:r>
              <a:t>  Assign therapy only when predicted net benefit exceeds zero.</a:t>
            </a:r>
            <a:br/>
            <a:br/>
            <a:r>
              <a:t>• Expected Policy Value V(pi):</a:t>
            </a:r>
            <a:br/>
            <a:r>
              <a:t>  • Treat None (Status Quo): 4.915%</a:t>
            </a:r>
            <a:br/>
            <a:r>
              <a:t>  • Treat All (Heuristic): 8.357%</a:t>
            </a:r>
            <a:br/>
            <a:r>
              <a:t>  • Causal ML Policy: 8.357%</a:t>
            </a:r>
            <a:br/>
            <a:r>
              <a:t>  • Policy Regret: 0.022% (Virtually zero regret)</a:t>
            </a:r>
            <a:br/>
            <a:br/>
            <a:r>
              <a:t>• Uplift / Qini Curves (AUUC = 1526.76):</a:t>
            </a:r>
            <a:br/>
            <a:r>
              <a:t>  Demonstrates rapid cumulative clinical gain when prioritizing patients with highest predicted treatment effects, enabling efficient allocation under limited medical resources.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</a:defRPr>
            </a:pPr>
            <a:r>
              <a:t>EFFECT HETEROGENEITY &amp; CLINICAL DISCOVERIES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Clinical Subgroup Analysis: Who Benefits Most?</a:t>
            </a:r>
          </a:p>
        </p:txBody>
      </p:sp>
      <p:pic>
        <p:nvPicPr>
          <p:cNvPr id="4" name="Picture 3" descr="subgroup_analysis_fores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73736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Key Stratification Insights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Prior CVD History (+4.52% Effect)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Patients with prior myocardial infarction or stroke derive +4.52% risk reduction vs +3.08% for non-CVD patients (1.44% higher absolute gain).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Elevated HbA1c &gt;= 8.5% (+4.02% Effect)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High glycemic burden amplifies treatment response (+4.02% vs +3.05%), indicating strong metabolic synergistic protection.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Chronic Kidney Disease eGFR &lt; 60 (+3.86%)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Patients with renal impairment experience significant cardioprotection (+3.86% vs +3.23% in preserved renal function).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Elderly Frail Attenuation (+3.17%)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Patients age &gt;= 65 experience slight attenuation (+3.17% vs +3.54%), warning against aggressive polypharmacy without personalized CI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</a:defRPr>
            </a:pPr>
            <a:r>
              <a:t>ROSENBAUM BOUNDS &amp; CINELLI-HAZLETT ROBUSTNESS VALUES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Trust &amp; Robustness: Sensitivity to Unobserved Bias</a:t>
            </a:r>
          </a:p>
        </p:txBody>
      </p:sp>
      <p:pic>
        <p:nvPicPr>
          <p:cNvPr id="4" name="Picture 3" descr="rosenbaum_sensitivit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How Robust Are Our Conclusions?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In observational studies, unobserved confounding could theoretically explain away findings. We stress-tested our estimates:</a:t>
            </a:r>
            <a:br/>
            <a:br/>
            <a:r>
              <a:t>1. Rosenbaum's Sensitivity Bounds (Gamma):</a:t>
            </a:r>
            <a:br/>
            <a:r>
              <a:t>   • The treatment effect remains statistically significant (p &lt; 0.0001) up to Gamma = 3.00.</a:t>
            </a:r>
            <a:br/>
            <a:r>
              <a:t>   • An unmeasured confounder must triple (300%) treatment odds before nullifying conclusions.</a:t>
            </a:r>
            <a:br/>
            <a:br/>
            <a:r>
              <a:t>2. Cinelli &amp; Hazlett (2020) Robustness Values:</a:t>
            </a:r>
            <a:br/>
            <a:r>
              <a:t>   • RV_q = 67.37%: An unobserved confounder must explain &gt;67% of both treatment selection and outcome residual variance to eliminate the treatment effect.</a:t>
            </a:r>
            <a:br/>
            <a:r>
              <a:t>   • RV_alpha = 65.76% to nullify statistical significance.</a:t>
            </a:r>
            <a:br/>
            <a:br/>
            <a:r>
              <a:t>3. Oster (2019) Selection Bound:</a:t>
            </a:r>
            <a:br/>
            <a:r>
              <a:t>   • delta = 4.098 (Standard threshold: delta &gt; 1.0), confirming extreme stability against unobservables.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</a:defRPr>
            </a:pPr>
            <a:r>
              <a:t>TRANSLATIONAL VALUE &amp; STREAMLIT DASHBOARD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How It Helps: Clinical Translation &amp; Interactive Decision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Pillar 01: Precision Medicine over Trial Averages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Moves clinicians from generic population guidelines to patient-specific counterfactuals Y(1) vs Y(0), identifying exactly who achieves meaningful risk reduction.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Pillar 02: Eliminating Preventable Toxicity &amp; Harm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Identifies individuals with negative or near-zero treatment effect (e.g. polypharmacy risk in frail elderly), saving patients from adverse drug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Pillar 03: Objective Confidence Interval Gating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Integrates individualized 95% bootstrap confidence intervals; clinicians only initiate aggressive therapy when CI lower bound is strictly positive.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Pillar 04: Interactive Deployed Clinical App (app.py)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Provides clinicians and researchers an interactive dashboard for real-time patient counterfactual simulation, Love plot balance inspection, and sensitivity exploration.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 &amp; KEY TAKEAWAYS</a:t>
            </a:r>
          </a:p>
          <a:p>
            <a:pPr>
              <a:spcBef>
                <a:spcPts val="1600"/>
              </a:spcBef>
              <a:defRPr sz="1300">
                <a:solidFill>
                  <a:srgbClr val="E2E8F0"/>
                </a:solidFill>
              </a:defRPr>
            </a:pPr>
            <a:r>
              <a:t>1. Solved the Confounding Dilemma:</a:t>
            </a:r>
            <a:br/>
            <a:r>
              <a:t>   Inverse probability weighting restored balance across 100% of clinical covariates, eliminating selection bias in observational cohorts.</a:t>
            </a:r>
            <a:br/>
            <a:br/>
            <a:r>
              <a:t>2. Superior Causal Accuracy:</a:t>
            </a:r>
            <a:br/>
            <a:r>
              <a:t>   X-Learner achieved lowest heterogeneous error (PEHE = 0.3599, r = 0.937); Doubly Robust AIPW achieved lowest ATE bias (0.0255) and 94.3% CI coverage.</a:t>
            </a:r>
            <a:br/>
            <a:br/>
            <a:r>
              <a:t>3. Actionable Subgroup Rules:</a:t>
            </a:r>
            <a:br/>
            <a:r>
              <a:t>   Prior CVD (+4.52%), high HbA1c (+4.02%), and CKD (+3.86%) derive the highest absolute benefit, while frail elderly patients require guarded polypharmacy.</a:t>
            </a:r>
            <a:br/>
            <a:br/>
            <a:r>
              <a:t>4. Proven Robustness:</a:t>
            </a:r>
            <a:br/>
            <a:r>
              <a:t>   Treatment effects withstand hidden confounding odds ratios up to Gamma = 3.00 (p &lt; 0.0001) and robustness values of RV = 67.4%.</a:t>
            </a:r>
            <a:br/>
            <a:br/>
            <a:r>
              <a:t>5. Complete Deliverables:</a:t>
            </a:r>
            <a:br/>
            <a:r>
              <a:t>   Production codebase, unit test suite (13/13 passing), research report, and interactive Streamlit clinical decision support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